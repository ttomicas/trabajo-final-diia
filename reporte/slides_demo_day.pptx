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0F1E4C-923D-4DBD-8FB5-7C76EA0CC926}">
  <a:tblStyle styleId="{E10F1E4C-923D-4DBD-8FB5-7C76EA0CC92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1097280" y="2011680"/>
            <a:ext cx="10058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Asistente de Triaje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de Mails con RAG y LLM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1097280" y="36576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Sistema híbrido multilingüe con búsqueda BM25 + vectorial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97280" y="4937760"/>
            <a:ext cx="10058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Tomás Caserez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Diplomatura en Inteligencia Artificial Aplicada — UBA / FIUBA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Taller de Proyecto Final · Track A — RAG / Chatbot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17/06/2026  ·  github.com/ttomicas/Trabajo-Final-DIIA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El problema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Triaje manual de mails de soporte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Cada mail entrante atraviesa tres tareas concatenadas, hechas por humanos: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14400" y="2560320"/>
            <a:ext cx="10515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Lectura completa del mensaje.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Clasificación al área correspondiente.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Redacción de la respuesta desde cero.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457200" y="4754880"/>
            <a:ext cx="112471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Consecuencia: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14400" y="5212080"/>
            <a:ext cx="10515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Demoras en tiempos de respuesta (SLA).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Errores de derivación entre equipos.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Inconsistencias de tono y contenido entre agentes.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2 / 12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5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La solución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Para cada mail, en menos de 5 segundos:</a:t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457200" y="2286000"/>
            <a:ext cx="2606040" cy="2011680"/>
          </a:xfrm>
          <a:prstGeom prst="roundRect">
            <a:avLst>
              <a:gd fmla="val 16667" name="adj"/>
            </a:avLst>
          </a:prstGeom>
          <a:solidFill>
            <a:srgbClr val="5B7DB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Clasifica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Intención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(5 categorías)</a:t>
            </a:r>
            <a:endParaRPr/>
          </a:p>
        </p:txBody>
      </p:sp>
      <p:sp>
        <p:nvSpPr>
          <p:cNvPr id="109" name="Google Shape;109;p15"/>
          <p:cNvSpPr/>
          <p:nvPr/>
        </p:nvSpPr>
        <p:spPr>
          <a:xfrm>
            <a:off x="3200400" y="2286000"/>
            <a:ext cx="2606040" cy="2011680"/>
          </a:xfrm>
          <a:prstGeom prst="roundRect">
            <a:avLst>
              <a:gd fmla="val 16667" name="adj"/>
            </a:avLst>
          </a:prstGeom>
          <a:solidFill>
            <a:srgbClr val="DD8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Detecta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Urgencia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(alta/media/baja)</a:t>
            </a:r>
            <a:endParaRPr/>
          </a:p>
        </p:txBody>
      </p:sp>
      <p:sp>
        <p:nvSpPr>
          <p:cNvPr id="110" name="Google Shape;110;p15"/>
          <p:cNvSpPr/>
          <p:nvPr/>
        </p:nvSpPr>
        <p:spPr>
          <a:xfrm>
            <a:off x="5943600" y="2286000"/>
            <a:ext cx="2606040" cy="2011680"/>
          </a:xfrm>
          <a:prstGeom prst="roundRect">
            <a:avLst>
              <a:gd fmla="val 16667" name="adj"/>
            </a:avLst>
          </a:prstGeom>
          <a:solidFill>
            <a:srgbClr val="5C9C6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Extrae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Entidades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(orden, monto, fecha)</a:t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8686800" y="2286000"/>
            <a:ext cx="2606040" cy="2011680"/>
          </a:xfrm>
          <a:prstGeom prst="roundRect">
            <a:avLst>
              <a:gd fmla="val 16667" name="adj"/>
            </a:avLst>
          </a:prstGeom>
          <a:solidFill>
            <a:srgbClr val="C4595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Sugiere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Respuesta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 citas del KB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457200" y="4846320"/>
            <a:ext cx="11247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Todo con structured output validado por Pydantic — el sistema nunca devuelve JSON malformado.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3 / 12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Cómo funciona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Pipeline de 5 etapas con retrieval híbrido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4 / 12  ·  Patrón de referencia: Batch RAG Feature Pipeline (LLM Engineer's Handbook)</a:t>
            </a:r>
            <a:endParaRPr/>
          </a:p>
        </p:txBody>
      </p:sp>
      <p:pic>
        <p:nvPicPr>
          <p:cNvPr id="123" name="Picture 122" descr="pipelin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8648" y="1463040"/>
            <a:ext cx="6400800" cy="49460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Decisiones técnicas clave</a:t>
            </a:r>
            <a:endParaRPr/>
          </a:p>
        </p:txBody>
      </p:sp>
      <p:sp>
        <p:nvSpPr>
          <p:cNvPr id="129" name="Google Shape;129;p17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Cada decisión: alternativa medida + criterio + costo asumido</a:t>
            </a:r>
            <a:endParaRPr/>
          </a:p>
        </p:txBody>
      </p:sp>
      <p:graphicFrame>
        <p:nvGraphicFramePr>
          <p:cNvPr id="130" name="Google Shape;130;p17"/>
          <p:cNvGraphicFramePr/>
          <p:nvPr/>
        </p:nvGraphicFramePr>
        <p:xfrm>
          <a:off x="457200" y="18288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{E10F1E4C-923D-4DBD-8FB5-7C76EA0CC926}</a:tableStyleId>
              </a:tblPr>
              <a:tblGrid>
                <a:gridCol w="2926075"/>
                <a:gridCol w="4114800"/>
                <a:gridCol w="4206250"/>
              </a:tblGrid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Decisión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Alternativa descartada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qué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3A5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Retrieval híbrido</a:t>
                      </a:r>
                      <a:b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BM25 + e5 + RRF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Solo BM25, o solo vector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BM25 aporta señal léxica; e5 aporta semántica multilingüe; RRF las fusiona sin calibrar pesos.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KB bilingüe</a:t>
                      </a:r>
                      <a:b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(+5 FAQs en español)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KB 100% en inglés + cross-lingual del encoder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Cross-lingual del encoder no alcanza: precision@1 ES subió del 40% al 100% con 5 docs (+14% KB).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Structured output</a:t>
                      </a:r>
                      <a:b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Pydantic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Free-form text + parsing manual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Garantía contractual de los campos; cero parsing; el LLM nunca devuelve JSON inválido.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</a:tbl>
          </a:graphicData>
        </a:graphic>
      </p:graphicFrame>
      <p:sp>
        <p:nvSpPr>
          <p:cNvPr id="131" name="Google Shape;131;p17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5 / 12  ·  Detalle completo en Sección 2.2 del informe técnico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8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El hallazgo que motivó el RAG bilingüe</a:t>
            </a:r>
            <a:endParaRPr/>
          </a:p>
        </p:txBody>
      </p:sp>
      <p:sp>
        <p:nvSpPr>
          <p:cNvPr id="138" name="Google Shape;138;p18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Hipótesis vs. realidad</a:t>
            </a: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457200" y="1828800"/>
            <a:ext cx="5486400" cy="384048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254000" spcFirstLastPara="1" rIns="91425" wrap="square" tIns="190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Hipótesis (EDA)</a:t>
            </a:r>
            <a:endParaRPr/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Las consultas en español caen en el mismo cluster que sus equivalentes en inglés. Por lo tanto, un KB 100% en inglés debería alcanzar.</a:t>
            </a:r>
            <a:endParaRPr/>
          </a:p>
        </p:txBody>
      </p:sp>
      <p:sp>
        <p:nvSpPr>
          <p:cNvPr id="140" name="Google Shape;140;p18"/>
          <p:cNvSpPr/>
          <p:nvPr/>
        </p:nvSpPr>
        <p:spPr>
          <a:xfrm>
            <a:off x="6217920" y="1828800"/>
            <a:ext cx="5486400" cy="3840480"/>
          </a:xfrm>
          <a:prstGeom prst="roundRect">
            <a:avLst>
              <a:gd fmla="val 16667" name="adj"/>
            </a:avLst>
          </a:prstGeom>
          <a:solidFill>
            <a:srgbClr val="DD8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254000" spcFirstLastPara="1" rIns="91425" wrap="square" tIns="190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Realidad medida</a:t>
            </a:r>
            <a:endParaRPr/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Precision@1 sobre consultas en español: 40% (vs 100% en inglés). BM25 contribuye cero señal: la palabra factura no existe en un KB en inglés.</a:t>
            </a:r>
            <a:endParaRPr/>
          </a:p>
        </p:txBody>
      </p:sp>
      <p:sp>
        <p:nvSpPr>
          <p:cNvPr id="141" name="Google Shape;141;p18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Decisión derivada: agregar 5 FAQs en español al KB. Subió a 100% en ambos idiomas.</a:t>
            </a:r>
            <a:endParaRPr/>
          </a:p>
        </p:txBody>
      </p:sp>
      <p:sp>
        <p:nvSpPr>
          <p:cNvPr id="142" name="Google Shape;142;p18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6 / 12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9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Resultados: Retrieval</a:t>
            </a:r>
            <a:endParaRPr/>
          </a:p>
        </p:txBody>
      </p:sp>
      <p:sp>
        <p:nvSpPr>
          <p:cNvPr id="149" name="Google Shape;149;p19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Ground truth: 15 mails curados (8 EN + 7 ES)</a:t>
            </a:r>
            <a:endParaRPr/>
          </a:p>
        </p:txBody>
      </p:sp>
      <p:sp>
        <p:nvSpPr>
          <p:cNvPr id="150" name="Google Shape;150;p19"/>
          <p:cNvSpPr/>
          <p:nvPr/>
        </p:nvSpPr>
        <p:spPr>
          <a:xfrm>
            <a:off x="457200" y="2103120"/>
            <a:ext cx="2606040" cy="18288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Precision@1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0.867</a:t>
            </a:r>
            <a:endParaRPr/>
          </a:p>
        </p:txBody>
      </p:sp>
      <p:sp>
        <p:nvSpPr>
          <p:cNvPr id="151" name="Google Shape;151;p19"/>
          <p:cNvSpPr/>
          <p:nvPr/>
        </p:nvSpPr>
        <p:spPr>
          <a:xfrm>
            <a:off x="3246120" y="2103120"/>
            <a:ext cx="2606040" cy="18288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MRR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0.883</a:t>
            </a:r>
            <a:endParaRPr/>
          </a:p>
        </p:txBody>
      </p:sp>
      <p:sp>
        <p:nvSpPr>
          <p:cNvPr id="152" name="Google Shape;152;p19"/>
          <p:cNvSpPr/>
          <p:nvPr/>
        </p:nvSpPr>
        <p:spPr>
          <a:xfrm>
            <a:off x="6035040" y="2103120"/>
            <a:ext cx="2606040" cy="18288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Recall@5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0.544</a:t>
            </a:r>
            <a:endParaRPr/>
          </a:p>
        </p:txBody>
      </p:sp>
      <p:sp>
        <p:nvSpPr>
          <p:cNvPr id="153" name="Google Shape;153;p19"/>
          <p:cNvSpPr/>
          <p:nvPr/>
        </p:nvSpPr>
        <p:spPr>
          <a:xfrm>
            <a:off x="8823960" y="2103120"/>
            <a:ext cx="2606040" cy="18288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nDCG@5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0.635</a:t>
            </a:r>
            <a:endParaRPr/>
          </a:p>
        </p:txBody>
      </p:sp>
      <p:sp>
        <p:nvSpPr>
          <p:cNvPr id="154" name="Google Shape;154;p19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Lectura: el documento correcto está casi siempre en posición 1.</a:t>
            </a:r>
            <a:endParaRPr/>
          </a:p>
        </p:txBody>
      </p:sp>
      <p:sp>
        <p:nvSpPr>
          <p:cNvPr id="155" name="Google Shape;155;p19"/>
          <p:cNvSpPr txBox="1"/>
          <p:nvPr/>
        </p:nvSpPr>
        <p:spPr>
          <a:xfrm>
            <a:off x="457200" y="5212080"/>
            <a:ext cx="11247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MRR alto = los relevantes aparecen primero, no a la mitad de la lista.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Precision@3 y Recall@5 son estructuralmente bajos porque el GT tiene 1-3 docs relevantes por mail.</a:t>
            </a:r>
            <a:endParaRPr/>
          </a:p>
        </p:txBody>
      </p:sp>
      <p:sp>
        <p:nvSpPr>
          <p:cNvPr id="156" name="Google Shape;156;p19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7 / 12  ·  Notebook 06_evaluation.ipynb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0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Resultados: Generación y Operación</a:t>
            </a:r>
            <a:endParaRPr/>
          </a:p>
        </p:txBody>
      </p:sp>
      <p:sp>
        <p:nvSpPr>
          <p:cNvPr id="163" name="Google Shape;163;p20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LLM-as-judge (n=5) y métricas operativas</a:t>
            </a:r>
            <a:endParaRPr/>
          </a:p>
        </p:txBody>
      </p:sp>
      <p:sp>
        <p:nvSpPr>
          <p:cNvPr id="164" name="Google Shape;164;p20"/>
          <p:cNvSpPr txBox="1"/>
          <p:nvPr/>
        </p:nvSpPr>
        <p:spPr>
          <a:xfrm>
            <a:off x="457200" y="17830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Generación (LLM-as-judge con Gemini 2.5 Flash)</a:t>
            </a:r>
            <a:endParaRPr/>
          </a:p>
        </p:txBody>
      </p:sp>
      <p:sp>
        <p:nvSpPr>
          <p:cNvPr id="165" name="Google Shape;165;p20"/>
          <p:cNvSpPr/>
          <p:nvPr/>
        </p:nvSpPr>
        <p:spPr>
          <a:xfrm>
            <a:off x="457200" y="2286000"/>
            <a:ext cx="5486400" cy="155448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Faithfulness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5C9C6C"/>
                </a:solidFill>
                <a:latin typeface="Calibri"/>
                <a:ea typeface="Calibri"/>
                <a:cs typeface="Calibri"/>
                <a:sym typeface="Calibri"/>
              </a:rPr>
              <a:t>1.000</a:t>
            </a:r>
            <a:endParaRPr/>
          </a:p>
        </p:txBody>
      </p:sp>
      <p:sp>
        <p:nvSpPr>
          <p:cNvPr id="166" name="Google Shape;166;p20"/>
          <p:cNvSpPr/>
          <p:nvPr/>
        </p:nvSpPr>
        <p:spPr>
          <a:xfrm>
            <a:off x="6263640" y="2286000"/>
            <a:ext cx="5486400" cy="155448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Answer Relevance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5C9C6C"/>
                </a:solidFill>
                <a:latin typeface="Calibri"/>
                <a:ea typeface="Calibri"/>
                <a:cs typeface="Calibri"/>
                <a:sym typeface="Calibri"/>
              </a:rPr>
              <a:t>1.000</a:t>
            </a:r>
            <a:endParaRPr/>
          </a:p>
        </p:txBody>
      </p:sp>
      <p:sp>
        <p:nvSpPr>
          <p:cNvPr id="167" name="Google Shape;167;p20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Operativa (latencia end-to-end RAG)</a:t>
            </a:r>
            <a:endParaRPr/>
          </a:p>
        </p:txBody>
      </p:sp>
      <p:sp>
        <p:nvSpPr>
          <p:cNvPr id="168" name="Google Shape;168;p20"/>
          <p:cNvSpPr/>
          <p:nvPr/>
        </p:nvSpPr>
        <p:spPr>
          <a:xfrm>
            <a:off x="457200" y="4572000"/>
            <a:ext cx="5486400" cy="13716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Latencia p50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2.36 s</a:t>
            </a:r>
            <a:endParaRPr/>
          </a:p>
        </p:txBody>
      </p:sp>
      <p:sp>
        <p:nvSpPr>
          <p:cNvPr id="169" name="Google Shape;169;p20"/>
          <p:cNvSpPr/>
          <p:nvPr/>
        </p:nvSpPr>
        <p:spPr>
          <a:xfrm>
            <a:off x="6263640" y="4572000"/>
            <a:ext cx="5486400" cy="13716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Latencia p95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4.22 s</a:t>
            </a:r>
            <a:endParaRPr/>
          </a:p>
        </p:txBody>
      </p:sp>
      <p:sp>
        <p:nvSpPr>
          <p:cNvPr id="170" name="Google Shape;170;p20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p95 debajo del objetivo de 5 segundos. Cero alucinaciones detectadas en la muestra.</a:t>
            </a:r>
            <a:endParaRPr/>
          </a:p>
        </p:txBody>
      </p:sp>
      <p:sp>
        <p:nvSpPr>
          <p:cNvPr id="171" name="Google Shape;171;p20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8 / 12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7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F3A5F"/>
                </a:solidFill>
                <a:latin typeface="Calibri"/>
              </a:rPr>
              <a:t>Ejemplo de Mail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777777"/>
                </a:solidFill>
                <a:latin typeface="Calibri"/>
              </a:rPr>
              <a:t>Un mail en español, su análisis estructurado y la respuesta lista para enviar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457200" y="1691640"/>
            <a:ext cx="5486400" cy="1828800"/>
          </a:xfrm>
          <a:prstGeom prst="round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tIns="152400" wrap="square"/>
          <a:lstStyle/>
          <a:p>
            <a:pPr algn="ctr"/>
            <a:r>
              <a:rPr sz="1300" b="1">
                <a:solidFill>
                  <a:srgbClr val="777777"/>
                </a:solidFill>
                <a:latin typeface="Calibri"/>
              </a:rPr>
              <a:t>📩 Mail del cliente</a:t>
            </a:r>
          </a:p>
          <a:p>
            <a:pPr>
              <a:spcBef>
                <a:spcPts val="800"/>
              </a:spcBef>
            </a:pPr>
            <a:r>
              <a:rPr sz="1600" i="1">
                <a:solidFill>
                  <a:srgbClr val="333333"/>
                </a:solidFill>
                <a:latin typeface="Calibri"/>
              </a:rPr>
              <a:t>"Hola, no me llega el email para recuperar mi contraseña. ¿Qué hago?"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6217920" y="1691640"/>
            <a:ext cx="5486400" cy="1828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tIns="152400" wrap="square"/>
          <a:lstStyle/>
          <a:p>
            <a:pPr algn="ctr"/>
            <a:r>
              <a:rPr sz="1300" b="1">
                <a:solidFill>
                  <a:srgbClr val="DD8A5C"/>
                </a:solidFill>
                <a:latin typeface="Calibri"/>
              </a:rPr>
              <a:t>🧠 Análisis interno (JSON validado)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DD8A5C"/>
                </a:solidFill>
                <a:latin typeface="Consolas"/>
              </a:rPr>
              <a:t>intent: </a:t>
            </a:r>
            <a:r>
              <a:rPr sz="1200">
                <a:solidFill>
                  <a:srgbClr val="FFFFFF"/>
                </a:solidFill>
                <a:latin typeface="Consolas"/>
              </a:rPr>
              <a:t>"Soporte de Cuenta"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DD8A5C"/>
                </a:solidFill>
                <a:latin typeface="Consolas"/>
              </a:rPr>
              <a:t>confidence: </a:t>
            </a:r>
            <a:r>
              <a:rPr sz="1200">
                <a:solidFill>
                  <a:srgbClr val="FFFFFF"/>
                </a:solidFill>
                <a:latin typeface="Consolas"/>
              </a:rPr>
              <a:t>0.95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DD8A5C"/>
                </a:solidFill>
                <a:latin typeface="Consolas"/>
              </a:rPr>
              <a:t>urgency: </a:t>
            </a:r>
            <a:r>
              <a:rPr sz="1200">
                <a:solidFill>
                  <a:srgbClr val="FFFFFF"/>
                </a:solidFill>
                <a:latin typeface="Consolas"/>
              </a:rPr>
              <a:t>"media"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DD8A5C"/>
                </a:solidFill>
                <a:latin typeface="Consolas"/>
              </a:rPr>
              <a:t>language: </a:t>
            </a:r>
            <a:r>
              <a:rPr sz="1200">
                <a:solidFill>
                  <a:srgbClr val="FFFFFF"/>
                </a:solidFill>
                <a:latin typeface="Consolas"/>
              </a:rPr>
              <a:t>"es"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457200" y="3703320"/>
            <a:ext cx="11247120" cy="2194560"/>
          </a:xfrm>
          <a:prstGeom prst="roundRect">
            <a:avLst/>
          </a:prstGeom>
          <a:solidFill>
            <a:srgbClr val="DD8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tIns="15240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✉️  suggested_response (texto listo para enviar al cliente)</a:t>
            </a:r>
          </a:p>
          <a:p>
            <a:pPr>
              <a:spcBef>
                <a:spcPts val="1000"/>
              </a:spcBef>
            </a:pPr>
            <a:r>
              <a:rPr sz="1400" i="1">
                <a:solidFill>
                  <a:srgbClr val="FFFFFF"/>
                </a:solidFill>
                <a:latin typeface="Calibri"/>
              </a:rPr>
              <a:t>"Hola, si no recibiste el email para recuperar tu contraseña, primero revisá la carpeta de spam. Si tampoco aparece allí, podés solicitarlo de nuevo desde shophive.example/reset-password. El link de recuperación es válido por 1 hora. Si después de 15 minutos seguís sin recibirlo, escribinos a support@shophive.example."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57200" y="6035040"/>
            <a:ext cx="11247120" cy="457200"/>
          </a:xfrm>
          <a:prstGeom prst="roundRect">
            <a:avLst/>
          </a:prstGeom>
          <a:solidFill>
            <a:srgbClr val="F5F5F5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/>
          <a:lstStyle/>
          <a:p>
            <a:pPr algn="ctr"/>
            <a:r>
              <a:rPr sz="1200" b="1">
                <a:solidFill>
                  <a:srgbClr val="1F3A5F"/>
                </a:solidFill>
                <a:latin typeface="Calibri"/>
              </a:rPr>
              <a:t>🔗 sources: </a:t>
            </a:r>
            <a:r>
              <a:rPr sz="1200">
                <a:solidFill>
                  <a:srgbClr val="333333"/>
                </a:solidFill>
                <a:latin typeface="Calibri"/>
              </a:rPr>
              <a:t>["account_recuperar-contrasena-es__0"]   →  trazabilidad total: cada respuesta cita la FAQ que la fundamenta.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777777"/>
                </a:solidFill>
                <a:latin typeface="Calibri"/>
              </a:rPr>
              <a:t>Slide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2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Limitaciones</a:t>
            </a:r>
            <a:endParaRPr/>
          </a:p>
        </p:txBody>
      </p:sp>
      <p:sp>
        <p:nvSpPr>
          <p:cNvPr id="190" name="Google Shape;190;p2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Honestidad metodológica: lo que el sistema todavía no resuelve</a:t>
            </a:r>
            <a:endParaRPr/>
          </a:p>
        </p:txBody>
      </p:sp>
      <p:sp>
        <p:nvSpPr>
          <p:cNvPr id="191" name="Google Shape;191;p22"/>
          <p:cNvSpPr txBox="1"/>
          <p:nvPr/>
        </p:nvSpPr>
        <p:spPr>
          <a:xfrm>
            <a:off x="457200" y="2011680"/>
            <a:ext cx="1124712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KB sintético reducido (35 FAQs). No probado en un KB de cientos/miles de documentos.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Muestra de Faithfulness pequeña (n = 5). Sin intervalos de confianza robustos.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PII redaction diseñada pero no implementada. Bloqueante regulatorio para producción.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Sin reranking ni feedback loop. Mejoras estándar todavía pendientes.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LLM-as-judge usa el mismo proveedor (Gemini) que el sistema. Posible sesgo del evaluador.</a:t>
            </a:r>
            <a:endParaRPr/>
          </a:p>
        </p:txBody>
      </p:sp>
      <p:sp>
        <p:nvSpPr>
          <p:cNvPr id="192" name="Google Shape;192;p22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10 / 12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3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Trabajo futuro</a:t>
            </a:r>
            <a:endParaRPr/>
          </a:p>
        </p:txBody>
      </p:sp>
      <p:sp>
        <p:nvSpPr>
          <p:cNvPr id="199" name="Google Shape;199;p23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Derivado directamente de las limitaciones</a:t>
            </a:r>
            <a:endParaRPr/>
          </a:p>
        </p:txBody>
      </p:sp>
      <p:sp>
        <p:nvSpPr>
          <p:cNvPr id="200" name="Google Shape;200;p23"/>
          <p:cNvSpPr txBox="1"/>
          <p:nvPr/>
        </p:nvSpPr>
        <p:spPr>
          <a:xfrm>
            <a:off x="457200" y="2011680"/>
            <a:ext cx="1124712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Implementar PII redaction (Presidio + regex) para habilitar mails reales.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Ampliar el ground truth a 50-100 mails y la muestra de evaluación a n ≥ 30.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Reranking con cross-encoder solo cuando la confianza top-1 cae bajo un umbral.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Feedback loop: indexar las correcciones de agentes humanos como nuevos few-shot.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Empaquetar como API REST (FastAPI) y conectar a Gmail / Microsoft Graph.</a:t>
            </a:r>
            <a:endParaRPr/>
          </a:p>
        </p:txBody>
      </p:sp>
      <p:sp>
        <p:nvSpPr>
          <p:cNvPr id="201" name="Google Shape;201;p23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11 / 12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4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En resumen</a:t>
            </a:r>
            <a:endParaRPr/>
          </a:p>
        </p:txBody>
      </p:sp>
      <p:sp>
        <p:nvSpPr>
          <p:cNvPr id="208" name="Google Shape;208;p2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Tres ideas para llevarse:</a:t>
            </a:r>
            <a:endParaRPr/>
          </a:p>
        </p:txBody>
      </p:sp>
      <p:sp>
        <p:nvSpPr>
          <p:cNvPr id="209" name="Google Shape;209;p24"/>
          <p:cNvSpPr txBox="1"/>
          <p:nvPr/>
        </p:nvSpPr>
        <p:spPr>
          <a:xfrm>
            <a:off x="457200" y="22860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endParaRPr/>
          </a:p>
        </p:txBody>
      </p:sp>
      <p:sp>
        <p:nvSpPr>
          <p:cNvPr id="210" name="Google Shape;210;p24"/>
          <p:cNvSpPr txBox="1"/>
          <p:nvPr/>
        </p:nvSpPr>
        <p:spPr>
          <a:xfrm>
            <a:off x="1097280" y="22860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El sistema funciona end-to-end</a:t>
            </a:r>
            <a:endParaRPr/>
          </a:p>
        </p:txBody>
      </p:sp>
      <p:sp>
        <p:nvSpPr>
          <p:cNvPr id="211" name="Google Shape;211;p24"/>
          <p:cNvSpPr txBox="1"/>
          <p:nvPr/>
        </p:nvSpPr>
        <p:spPr>
          <a:xfrm>
            <a:off x="1097280" y="26974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Precision@1 = 0.867, MRR = 0.883, Faithfulness = 1.000 sobre la muestra.</a:t>
            </a:r>
            <a:endParaRPr/>
          </a:p>
        </p:txBody>
      </p:sp>
      <p:sp>
        <p:nvSpPr>
          <p:cNvPr id="212" name="Google Shape;212;p24"/>
          <p:cNvSpPr txBox="1"/>
          <p:nvPr/>
        </p:nvSpPr>
        <p:spPr>
          <a:xfrm>
            <a:off x="457200" y="333756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endParaRPr/>
          </a:p>
        </p:txBody>
      </p:sp>
      <p:sp>
        <p:nvSpPr>
          <p:cNvPr id="213" name="Google Shape;213;p24"/>
          <p:cNvSpPr txBox="1"/>
          <p:nvPr/>
        </p:nvSpPr>
        <p:spPr>
          <a:xfrm>
            <a:off x="1097280" y="333756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El RAG aporta valor medible sobre el baseline</a:t>
            </a:r>
            <a:endParaRPr/>
          </a:p>
        </p:txBody>
      </p:sp>
      <p:sp>
        <p:nvSpPr>
          <p:cNvPr id="214" name="Google Shape;214;p24"/>
          <p:cNvSpPr txBox="1"/>
          <p:nvPr/>
        </p:nvSpPr>
        <p:spPr>
          <a:xfrm>
            <a:off x="1097280" y="37490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Genera respuesta sugerida + cita fuentes + corrige clasificación en casos ambiguos.</a:t>
            </a:r>
            <a:endParaRPr/>
          </a:p>
        </p:txBody>
      </p:sp>
      <p:sp>
        <p:nvSpPr>
          <p:cNvPr id="215" name="Google Shape;215;p24"/>
          <p:cNvSpPr txBox="1"/>
          <p:nvPr/>
        </p:nvSpPr>
        <p:spPr>
          <a:xfrm>
            <a:off x="457200" y="438912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endParaRPr/>
          </a:p>
        </p:txBody>
      </p:sp>
      <p:sp>
        <p:nvSpPr>
          <p:cNvPr id="216" name="Google Shape;216;p24"/>
          <p:cNvSpPr txBox="1"/>
          <p:nvPr/>
        </p:nvSpPr>
        <p:spPr>
          <a:xfrm>
            <a:off x="1097280" y="43891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El idioma del usuario importa al diseñar el KB</a:t>
            </a:r>
            <a:endParaRPr/>
          </a:p>
        </p:txBody>
      </p:sp>
      <p:sp>
        <p:nvSpPr>
          <p:cNvPr id="217" name="Google Shape;217;p24"/>
          <p:cNvSpPr txBox="1"/>
          <p:nvPr/>
        </p:nvSpPr>
        <p:spPr>
          <a:xfrm>
            <a:off x="1097280" y="48006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Agregar 5 FAQs en español llevó precision@1 ES del 40% al 100%.</a:t>
            </a:r>
            <a:endParaRPr/>
          </a:p>
        </p:txBody>
      </p:sp>
      <p:sp>
        <p:nvSpPr>
          <p:cNvPr id="218" name="Google Shape;218;p2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4"/>
          <p:cNvSpPr txBox="1"/>
          <p:nvPr/>
        </p:nvSpPr>
        <p:spPr>
          <a:xfrm>
            <a:off x="457200" y="6172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Repositorio: github.com/ttomicas/Trabajo-Final-DIIA   ·   Tomás Caserez   ·   DIIAA — UBA / FIUBA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