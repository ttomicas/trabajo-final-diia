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F3A5F"/>
                </a:solidFill>
                <a:latin typeface="Calibri"/>
              </a:rPr>
              <a:t>Asistente de Triaje</a:t>
            </a:r>
          </a:p>
          <a:p>
            <a:pPr algn="l"/>
            <a:r>
              <a:rPr sz="4600" b="1" i="0">
                <a:solidFill>
                  <a:srgbClr val="1F3A5F"/>
                </a:solidFill>
                <a:latin typeface="Calibri"/>
              </a:rPr>
              <a:t>de Mails con RAG y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777777"/>
                </a:solidFill>
                <a:latin typeface="Calibri"/>
              </a:rPr>
              <a:t>Sistema híbrido multilingüe con búsqueda BM25 + vectorial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93776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Tomás Caserez</a:t>
            </a:r>
          </a:p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Diplomatura en Inteligencia Artificial Aplicada — UBA / FIUBA</a:t>
            </a:r>
          </a:p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Taller de Proyecto Final · Track A — RAG /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  <a:latin typeface="Calibri"/>
              </a:rPr>
              <a:t>17/06/2026  ·  github.com/ttomicas/Trabajo-Final-DIIA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77777"/>
                </a:solidFill>
                <a:latin typeface="Calibri"/>
              </a:rPr>
              <a:t>Triaje manual de mails de soporte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Cada mail entrante atraviesa tres tareas concatenadas, hechas por humanos: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 Lectura completa del mensaje.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 Clasificación al área correspondiente.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 Redacción de la respuesta desde cero.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D8A5C"/>
                </a:solidFill>
                <a:latin typeface="Calibri"/>
              </a:rPr>
              <a:t>Consecuencia: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 Demoras en tiempos de respuesta (SLA).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 Errores de derivación entre equipos.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 Inconsistencias de tono y contenido entre agentes.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Calibri"/>
              </a:rPr>
              <a:t>Slide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77777"/>
                </a:solidFill>
                <a:latin typeface="Calibri"/>
              </a:rPr>
              <a:t>Para cada mail, en menos de 5 segundos: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606040" cy="2011680"/>
          </a:xfrm>
          <a:prstGeom prst="roundRect">
            <a:avLst/>
          </a:prstGeom>
          <a:solidFill>
            <a:srgbClr val="5B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Clasifica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Intención
(5 categorías)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286000"/>
            <a:ext cx="2606040" cy="2011680"/>
          </a:xfrm>
          <a:prstGeom prst="roundRect">
            <a:avLst/>
          </a:prstGeom>
          <a:solidFill>
            <a:srgbClr val="DD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Detecta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Urgencia
(alta/media/baja)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2606040" cy="2011680"/>
          </a:xfrm>
          <a:prstGeom prst="roundRect">
            <a:avLst/>
          </a:prstGeom>
          <a:solidFill>
            <a:srgbClr val="5C9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Extrae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Entidades
(orden, monto, fecha)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286000"/>
            <a:ext cx="2606040" cy="2011680"/>
          </a:xfrm>
          <a:prstGeom prst="roundRect">
            <a:avLst/>
          </a:prstGeom>
          <a:solidFill>
            <a:srgbClr val="C4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Sugiere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Respuesta
con citas del 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333333"/>
                </a:solidFill>
                <a:latin typeface="Calibri"/>
              </a:rPr>
              <a:t>Todo con structured output validado por Pydantic — el sistema nunca devuelve JSON malformado.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Calibri"/>
              </a:rPr>
              <a:t>Slide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77777"/>
                </a:solidFill>
                <a:latin typeface="Calibri"/>
              </a:rPr>
              <a:t>Pipeline de 5 etapas con retrieval híbrido</a:t>
            </a:r>
          </a:p>
        </p:txBody>
      </p:sp>
      <p:pic>
        <p:nvPicPr>
          <p:cNvPr id="5" name="Picture 4" descr="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463040"/>
            <a:ext cx="9784080" cy="7560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Calibri"/>
              </a:rPr>
              <a:t>Slide 4 / 12  ·  Patrón de referencia: Batch RAG Feature Pipeline (LLM Engineer's Handbook)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Decisiones técnicas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77777"/>
                </a:solidFill>
                <a:latin typeface="Calibri"/>
              </a:rPr>
              <a:t>Cada decisión: alternativa medida + criterio + costo asumido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14800"/>
                <a:gridCol w="4206240"/>
              </a:tblGrid>
              <a:tr h="1028700">
                <a:tc>
                  <a:txBody>
                    <a:bodyPr wrap="square" lIns="127000" rIns="127000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lIns="127000" rIns="127000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Alternativa descartada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lIns="127000" rIns="127000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1028700">
                <a:tc>
                  <a:txBody>
                    <a:bodyPr wrap="square" lIns="127000" rIns="127000"/>
                    <a:lstStyle/>
                    <a:p>
                      <a:pPr algn="l"/>
                      <a:r>
                        <a:rPr sz="1400" b="1">
                          <a:solidFill>
                            <a:srgbClr val="1F3A5F"/>
                          </a:solidFill>
                          <a:latin typeface="Calibri"/>
                        </a:rPr>
                        <a:t>Retrieval híbrido
BM25 + e5 + RRF</a:t>
                      </a:r>
                    </a:p>
                  </a:txBody>
                  <a:tcPr anchor="ctr"/>
                </a:tc>
                <a:tc>
                  <a:txBody>
                    <a:bodyPr wrap="square" lIns="127000" rIns="127000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Solo BM25, o solo vector</a:t>
                      </a:r>
                    </a:p>
                  </a:txBody>
                  <a:tcPr anchor="ctr"/>
                </a:tc>
                <a:tc>
                  <a:txBody>
                    <a:bodyPr wrap="square" lIns="127000" rIns="127000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BM25 aporta señal léxica; e5 aporta semántica multilingüe; RRF las fusiona sin calibrar pesos.</a:t>
                      </a:r>
                    </a:p>
                  </a:txBody>
                  <a:tcPr anchor="ctr"/>
                </a:tc>
              </a:tr>
              <a:tr h="1028700">
                <a:tc>
                  <a:txBody>
                    <a:bodyPr wrap="square" lIns="127000" rIns="127000"/>
                    <a:lstStyle/>
                    <a:p>
                      <a:pPr algn="l"/>
                      <a:r>
                        <a:rPr sz="1400" b="1">
                          <a:solidFill>
                            <a:srgbClr val="1F3A5F"/>
                          </a:solidFill>
                          <a:latin typeface="Calibri"/>
                        </a:rPr>
                        <a:t>KB bilingüe
(+5 FAQs en español)</a:t>
                      </a:r>
                    </a:p>
                  </a:txBody>
                  <a:tcPr anchor="ctr"/>
                </a:tc>
                <a:tc>
                  <a:txBody>
                    <a:bodyPr wrap="square" lIns="127000" rIns="127000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KB 100% en inglés + cross-lingual del encoder</a:t>
                      </a:r>
                    </a:p>
                  </a:txBody>
                  <a:tcPr anchor="ctr"/>
                </a:tc>
                <a:tc>
                  <a:txBody>
                    <a:bodyPr wrap="square" lIns="127000" rIns="127000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Cross-lingual del encoder no alcanza: precision@1 ES subió del 40% al 100% con 5 docs (+14% KB).</a:t>
                      </a:r>
                    </a:p>
                  </a:txBody>
                  <a:tcPr anchor="ctr"/>
                </a:tc>
              </a:tr>
              <a:tr h="1028700">
                <a:tc>
                  <a:txBody>
                    <a:bodyPr wrap="square" lIns="127000" rIns="127000"/>
                    <a:lstStyle/>
                    <a:p>
                      <a:pPr algn="l"/>
                      <a:r>
                        <a:rPr sz="1400" b="1">
                          <a:solidFill>
                            <a:srgbClr val="1F3A5F"/>
                          </a:solidFill>
                          <a:latin typeface="Calibri"/>
                        </a:rPr>
                        <a:t>Structured output
con Pydantic</a:t>
                      </a:r>
                    </a:p>
                  </a:txBody>
                  <a:tcPr anchor="ctr"/>
                </a:tc>
                <a:tc>
                  <a:txBody>
                    <a:bodyPr wrap="square" lIns="127000" rIns="127000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Free-form text + parsing manual</a:t>
                      </a:r>
                    </a:p>
                  </a:txBody>
                  <a:tcPr anchor="ctr"/>
                </a:tc>
                <a:tc>
                  <a:txBody>
                    <a:bodyPr wrap="square" lIns="127000" rIns="127000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Garantía contractual de los campos; cero parsing; el LLM nunca devuelve JSON inválido.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Calibri"/>
              </a:rPr>
              <a:t>Slide 5 / 12  ·  Detalle completo en Sección 2.2 del informe técnico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El hallazgo que motivó el RAG bilingüe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77777"/>
                </a:solidFill>
                <a:latin typeface="Calibri"/>
              </a:rPr>
              <a:t>Hipótesis vs. realidad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90500" wrap="square"/>
          <a:lstStyle/>
          <a:p>
            <a:pPr algn="ctr"/>
            <a:r>
              <a:rPr sz="1800" b="1">
                <a:solidFill>
                  <a:srgbClr val="1F3A5F"/>
                </a:solidFill>
                <a:latin typeface="Calibri"/>
              </a:rPr>
              <a:t>Hipótesis (EDA con UMAP)</a:t>
            </a:r>
          </a:p>
          <a:p>
            <a:pPr>
              <a:spcBef>
                <a:spcPts val="15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Las consultas en español caen en el mismo cluster que sus equivalentes en inglés. Por lo tanto, un KB 100% en inglés debería alcanzar.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486400" cy="3840480"/>
          </a:xfrm>
          <a:prstGeom prst="roundRect">
            <a:avLst/>
          </a:prstGeom>
          <a:solidFill>
            <a:srgbClr val="DD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905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Realidad medida</a:t>
            </a:r>
          </a:p>
          <a:p>
            <a:pPr>
              <a:spcBef>
                <a:spcPts val="15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Precision@1 sobre consultas en español: 40% (vs 100% en inglés). BM25 contribuye cero señal: la palabra factura no existe en un KB en inglés.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Decisión derivada: agregar 5 FAQs en español al KB. Subió a 100% en ambos idiomas.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Calibri"/>
              </a:rPr>
              <a:t>Slide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Resultados: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77777"/>
                </a:solidFill>
                <a:latin typeface="Calibri"/>
              </a:rPr>
              <a:t>Ground truth: 15 mails curados (8 EN + 7 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606040" cy="18288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>
                <a:solidFill>
                  <a:srgbClr val="777777"/>
                </a:solidFill>
                <a:latin typeface="Calibri"/>
              </a:rPr>
              <a:t>Precision@1</a:t>
            </a:r>
          </a:p>
          <a:p>
            <a:pPr algn="ctr"/>
            <a:r>
              <a:rPr sz="3200" b="1">
                <a:solidFill>
                  <a:srgbClr val="1F3A5F"/>
                </a:solidFill>
                <a:latin typeface="Calibri"/>
              </a:rPr>
              <a:t>0.867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103120"/>
            <a:ext cx="2606040" cy="18288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>
                <a:solidFill>
                  <a:srgbClr val="777777"/>
                </a:solidFill>
                <a:latin typeface="Calibri"/>
              </a:rPr>
              <a:t>MRR</a:t>
            </a:r>
          </a:p>
          <a:p>
            <a:pPr algn="ctr"/>
            <a:r>
              <a:rPr sz="3200" b="1">
                <a:solidFill>
                  <a:srgbClr val="DD8A5C"/>
                </a:solidFill>
                <a:latin typeface="Calibri"/>
              </a:rPr>
              <a:t>0.883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103120"/>
            <a:ext cx="2606040" cy="18288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>
                <a:solidFill>
                  <a:srgbClr val="777777"/>
                </a:solidFill>
                <a:latin typeface="Calibri"/>
              </a:rPr>
              <a:t>Recall@5</a:t>
            </a:r>
          </a:p>
          <a:p>
            <a:pPr algn="ctr"/>
            <a:r>
              <a:rPr sz="3200" b="1">
                <a:solidFill>
                  <a:srgbClr val="1F3A5F"/>
                </a:solidFill>
                <a:latin typeface="Calibri"/>
              </a:rPr>
              <a:t>0.544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103120"/>
            <a:ext cx="2606040" cy="18288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>
                <a:solidFill>
                  <a:srgbClr val="777777"/>
                </a:solidFill>
                <a:latin typeface="Calibri"/>
              </a:rPr>
              <a:t>nDCG@5</a:t>
            </a:r>
          </a:p>
          <a:p>
            <a:pPr algn="ctr"/>
            <a:r>
              <a:rPr sz="3200" b="1">
                <a:solidFill>
                  <a:srgbClr val="1F3A5F"/>
                </a:solidFill>
                <a:latin typeface="Calibri"/>
              </a:rPr>
              <a:t>0.635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Lectura: el documento correcto está casi siempre en posición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• MRR alto = los relevantes aparecen primero, no a la mitad de la lista.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• Precision@3 y Recall@5 son estructuralmente bajos porque el GT tiene 1-3 docs relevantes por mail.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Calibri"/>
              </a:rPr>
              <a:t>Slide 7 / 12  ·  Notebook 06_evaluation.ipynb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Resultados: Generación y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77777"/>
                </a:solidFill>
                <a:latin typeface="Calibri"/>
              </a:rPr>
              <a:t>LLM-as-judge (n=5) y métricas operativas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Generación (LLM-as-judge con Gemini 2.5 Flash)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486400" cy="155448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>
                <a:solidFill>
                  <a:srgbClr val="777777"/>
                </a:solidFill>
                <a:latin typeface="Calibri"/>
              </a:rPr>
              <a:t>Faithfulness</a:t>
            </a:r>
          </a:p>
          <a:p>
            <a:pPr algn="ctr"/>
            <a:r>
              <a:rPr sz="3200" b="1">
                <a:solidFill>
                  <a:srgbClr val="5C9C6C"/>
                </a:solidFill>
                <a:latin typeface="Calibri"/>
              </a:rPr>
              <a:t>1.000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286000"/>
            <a:ext cx="5486400" cy="155448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>
                <a:solidFill>
                  <a:srgbClr val="777777"/>
                </a:solidFill>
                <a:latin typeface="Calibri"/>
              </a:rPr>
              <a:t>Answer Relevance</a:t>
            </a:r>
          </a:p>
          <a:p>
            <a:pPr algn="ctr"/>
            <a:r>
              <a:rPr sz="3200" b="1">
                <a:solidFill>
                  <a:srgbClr val="5C9C6C"/>
                </a:solidFill>
                <a:latin typeface="Calibri"/>
              </a:rPr>
              <a:t>1.000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Operativa (latencia end-to-end RAG)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5486400" cy="13716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>
                <a:solidFill>
                  <a:srgbClr val="777777"/>
                </a:solidFill>
                <a:latin typeface="Calibri"/>
              </a:rPr>
              <a:t>Latencia p50</a:t>
            </a:r>
          </a:p>
          <a:p>
            <a:pPr algn="ctr"/>
            <a:r>
              <a:rPr sz="3200" b="1">
                <a:solidFill>
                  <a:srgbClr val="1F3A5F"/>
                </a:solidFill>
                <a:latin typeface="Calibri"/>
              </a:rPr>
              <a:t>2.36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572000"/>
            <a:ext cx="5486400" cy="13716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>
                <a:solidFill>
                  <a:srgbClr val="777777"/>
                </a:solidFill>
                <a:latin typeface="Calibri"/>
              </a:rPr>
              <a:t>Latencia p95</a:t>
            </a:r>
          </a:p>
          <a:p>
            <a:pPr algn="ctr"/>
            <a:r>
              <a:rPr sz="3200" b="1">
                <a:solidFill>
                  <a:srgbClr val="DD8A5C"/>
                </a:solidFill>
                <a:latin typeface="Calibri"/>
              </a:rPr>
              <a:t>4.22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77777"/>
                </a:solidFill>
                <a:latin typeface="Calibri"/>
              </a:rPr>
              <a:t>p95 debajo del objetivo de 5 segundos. Cero alucinaciones detectadas en la muestra.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Calibri"/>
              </a:rPr>
              <a:t>Slide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77777"/>
                </a:solidFill>
                <a:latin typeface="Calibri"/>
              </a:rPr>
              <a:t>Mail en español → análisis estructurado con citas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02920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tIns="190500" wrap="square"/>
          <a:lstStyle/>
          <a:p>
            <a:pPr algn="ctr"/>
            <a:r>
              <a:rPr sz="1400" b="1">
                <a:solidFill>
                  <a:srgbClr val="777777"/>
                </a:solidFill>
                <a:latin typeface="Calibri"/>
              </a:rPr>
              <a:t>Mail del cliente</a:t>
            </a:r>
          </a:p>
          <a:p>
            <a:pPr>
              <a:spcBef>
                <a:spcPts val="1500"/>
              </a:spcBef>
            </a:pPr>
            <a:r>
              <a:rPr sz="2000" i="1">
                <a:solidFill>
                  <a:srgbClr val="333333"/>
                </a:solidFill>
                <a:latin typeface="Calibri"/>
              </a:rPr>
              <a:t>"Hola, no me llega el email para recuperar mi contraseña. ¿Qué hago?"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669280" y="3566160"/>
            <a:ext cx="731520" cy="73152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5120640" cy="41148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tIns="190500" wrap="square"/>
          <a:lstStyle/>
          <a:p>
            <a:pPr algn="ctr"/>
            <a:r>
              <a:rPr sz="1400" b="1">
                <a:solidFill>
                  <a:srgbClr val="DD8A5C"/>
                </a:solidFill>
                <a:latin typeface="Calibri"/>
              </a:rPr>
              <a:t>MailAnalysis (JSON validado)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DD8A5C"/>
                </a:solidFill>
                <a:latin typeface="Consolas"/>
              </a:rPr>
              <a:t>intent: </a:t>
            </a:r>
            <a:r>
              <a:rPr sz="1300">
                <a:solidFill>
                  <a:srgbClr val="FFFFFF"/>
                </a:solidFill>
                <a:latin typeface="Consolas"/>
              </a:rPr>
              <a:t>"Soporte de Cuenta"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DD8A5C"/>
                </a:solidFill>
                <a:latin typeface="Consolas"/>
              </a:rPr>
              <a:t>confidence: </a:t>
            </a:r>
            <a:r>
              <a:rPr sz="1300">
                <a:solidFill>
                  <a:srgbClr val="FFFFFF"/>
                </a:solidFill>
                <a:latin typeface="Consolas"/>
              </a:rPr>
              <a:t>0.95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DD8A5C"/>
                </a:solidFill>
                <a:latin typeface="Consolas"/>
              </a:rPr>
              <a:t>urgency: </a:t>
            </a:r>
            <a:r>
              <a:rPr sz="1300">
                <a:solidFill>
                  <a:srgbClr val="FFFFFF"/>
                </a:solidFill>
                <a:latin typeface="Consolas"/>
              </a:rPr>
              <a:t>"media"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DD8A5C"/>
                </a:solidFill>
                <a:latin typeface="Consolas"/>
              </a:rPr>
              <a:t>language: </a:t>
            </a:r>
            <a:r>
              <a:rPr sz="1300">
                <a:solidFill>
                  <a:srgbClr val="FFFFFF"/>
                </a:solidFill>
                <a:latin typeface="Consolas"/>
              </a:rPr>
              <a:t>"es"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DD8A5C"/>
                </a:solidFill>
                <a:latin typeface="Consolas"/>
              </a:rPr>
              <a:t>summary: </a:t>
            </a:r>
            <a:r>
              <a:rPr sz="1300">
                <a:solidFill>
                  <a:srgbClr val="FFFFFF"/>
                </a:solidFill>
                <a:latin typeface="Consolas"/>
              </a:rPr>
              <a:t>"Cliente reporta no recibir el email de recuperación..."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DD8A5C"/>
                </a:solidFill>
                <a:latin typeface="Consolas"/>
              </a:rPr>
              <a:t>sources: </a:t>
            </a:r>
            <a:r>
              <a:rPr sz="1300">
                <a:solidFill>
                  <a:srgbClr val="FFFFFF"/>
                </a:solidFill>
                <a:latin typeface="Consolas"/>
              </a:rPr>
              <a:t>["account_recuperar-contrasena-es__0"]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1F3A5F"/>
                </a:solidFill>
                <a:latin typeface="Calibri"/>
              </a:rPr>
              <a:t>El sistema cita la fuente exacta del KB — trazabilidad total para auditoría.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Calibri"/>
              </a:rPr>
              <a:t>Slide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Limitaciones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77777"/>
                </a:solidFill>
                <a:latin typeface="Calibri"/>
              </a:rPr>
              <a:t>Honestidad metodológica: lo que el sistema todavía no resuelve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 KB sintético reducido (35 FAQs). No probado en un KB de cientos/miles de documentos.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 Muestra de Faithfulness pequeña (n = 5). Sin intervalos de confianza robustos.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 PII redaction diseñada pero no implementada. Bloqueante regulatorio para producción.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 Sin reranking ni feedback loop. Mejoras estándar todavía pendientes.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 LLM-as-judge usa el mismo proveedor (Gemini) que el sistema. Posible sesgo del evaluador.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Calibri"/>
              </a:rPr>
              <a:t>Slide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77777"/>
                </a:solidFill>
                <a:latin typeface="Calibri"/>
              </a:rPr>
              <a:t>Derivado directamente de las limitaciones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 Implementar PII redaction (Presidio + regex) para habilitar mails reales.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 Ampliar el ground truth a 50-100 mails y la muestra de evaluación a n ≥ 30.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 Reranking con cross-encoder solo cuando la confianza top-1 cae bajo un umbral.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 Feedback loop: indexar las correcciones de agentes humanos como nuevos few-shot.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 Empaquetar como API REST (FastAPI) y conectar a Gmail / Microsoft Graph.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Calibri"/>
              </a:rPr>
              <a:t>Slide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En 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777777"/>
                </a:solidFill>
                <a:latin typeface="Calibri"/>
              </a:rPr>
              <a:t>Tres ideas para llevarse: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D8A5C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El sistema funciona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Precision@1 = 0.867, MRR = 0.883, Faithfulness = 1.000 sobre la muestra.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D8A5C"/>
                </a:solidFill>
                <a:latin typeface="Calibr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El RAG aporta valor medible sobre el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Genera respuesta sugerida + cita fuentes + corrige clasificación en casos ambiguos.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D8A5C"/>
                </a:solidFill>
                <a:latin typeface="Calibri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El idioma del usuario importa al diseñar el 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00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Agregar 5 FAQs en español llevó precision@1 ES del 40% al 100%.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Repositorio: github.com/ttomicas/Trabajo-Final-DIIA   ·   Tomás Caserez   ·   DIIAA — UBA / FIUBA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